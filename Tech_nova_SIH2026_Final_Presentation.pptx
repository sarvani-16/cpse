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ai-bid-compliance-frontend.onrender.com" TargetMode="External"/><Relationship Id="rId5" Type="http://schemas.openxmlformats.org/officeDocument/2006/relationships/image" Target="../media/image8.png"/><Relationship Id="rId6" Type="http://schemas.openxmlformats.org/officeDocument/2006/relationships/hyperlink" Target="https://github.com/tiruvinayak/ai-bid-compliance-platform.git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youtu.be/TsULeHhOB5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3840480" cy="384048"/>
          </a:xfrm>
          <a:prstGeom prst="round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SMART INDIA HACKATHON 2026</a:t>
            </a:r>
          </a:p>
        </p:txBody>
      </p:sp>
      <p:pic>
        <p:nvPicPr>
          <p:cNvPr id="4" name="Picture 3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82880"/>
            <a:ext cx="210312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7724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B1B3D"/>
                </a:solidFill>
                <a:latin typeface="Segoe UI"/>
              </a:defRPr>
            </a:pPr>
            <a:r>
              <a:t>AI-Powered Procurement Bid Compliance Verification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114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AI Verifies  |  Evidence Explains  |  Officers 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4114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4114800" cy="457200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PROJECT &amp; TEAM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Problem Statement ID: </a:t>
            </a:r>
            <a:r>
              <a:rPr sz="1050" b="1">
                <a:solidFill>
                  <a:srgbClr val="0B1B3D"/>
                </a:solidFill>
                <a:latin typeface="Segoe UI"/>
              </a:rPr>
              <a:t>SIH26100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Problem Statement Title: </a:t>
            </a:r>
            <a:r>
              <a:rPr sz="1050" b="0">
                <a:solidFill>
                  <a:srgbClr val="0F172A"/>
                </a:solidFill>
                <a:latin typeface="Segoe UI"/>
              </a:rPr>
              <a:t>AI-Assisted Procurement Bid Compliance Verification Platform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Team Name: </a:t>
            </a:r>
            <a:r>
              <a:rPr sz="1050" b="1">
                <a:solidFill>
                  <a:srgbClr val="0B1B3D"/>
                </a:solidFill>
                <a:latin typeface="Segoe UI"/>
              </a:rPr>
              <a:t>Tech_nova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Team ID: </a:t>
            </a:r>
            <a:r>
              <a:rPr sz="1050" b="0">
                <a:solidFill>
                  <a:srgbClr val="0F172A"/>
                </a:solidFill>
                <a:latin typeface="Segoe UI"/>
              </a:rPr>
              <a:t>179363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Theme: </a:t>
            </a:r>
            <a:r>
              <a:rPr sz="1050" b="0">
                <a:solidFill>
                  <a:srgbClr val="0F172A"/>
                </a:solidFill>
                <a:latin typeface="Segoe UI"/>
              </a:rPr>
              <a:t>Smart Automation / GovTech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PS Category: </a:t>
            </a:r>
            <a:r>
              <a:rPr sz="1050" b="0">
                <a:solidFill>
                  <a:srgbClr val="0F172A"/>
                </a:solidFill>
                <a:latin typeface="Segoe UI"/>
              </a:rPr>
              <a:t>Software
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475569"/>
                </a:solidFill>
                <a:latin typeface="Segoe UI"/>
              </a:rPr>
              <a:t>Platform Status: </a:t>
            </a:r>
            <a:r>
              <a:rPr sz="1050" b="0">
                <a:solidFill>
                  <a:srgbClr val="0F172A"/>
                </a:solidFill>
                <a:latin typeface="Segoe UI"/>
              </a:rPr>
              <a:t>Live Deployed &amp; Verified Working Application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377440"/>
            <a:ext cx="676656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2377440"/>
            <a:ext cx="676656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THE 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926080"/>
            <a:ext cx="640080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"Government procurement officers manually verify large numbers of tender requirements against bidder documents.</a:t>
            </a:r>
            <a:br/>
            <a:r>
              <a:t>This makes compliance checking time-consuming, difficult to compare, and vulnerable to missed evidence."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14800"/>
            <a:ext cx="6400800" cy="58521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Segoe UI"/>
              </a:rPr>
              <a:t>⏱ Time-Consuming: </a:t>
            </a:r>
            <a:r>
              <a:rPr sz="950">
                <a:solidFill>
                  <a:srgbClr val="0F172A"/>
                </a:solidFill>
                <a:latin typeface="Segoe UI"/>
              </a:rPr>
              <a:t>Manual verification across hundreds of pages of complex tender BOQs and bidder documents takes days to weeks, creating severe procurement bottlenecks.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773168"/>
            <a:ext cx="6400800" cy="5852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D4ED8"/>
                </a:solidFill>
                <a:latin typeface="Segoe UI"/>
              </a:rPr>
              <a:t>⚖ Difficult to Compare: </a:t>
            </a:r>
            <a:r>
              <a:rPr sz="950">
                <a:solidFill>
                  <a:srgbClr val="0F172A"/>
                </a:solidFill>
                <a:latin typeface="Segoe UI"/>
              </a:rPr>
              <a:t>Bidders submit documents in disparate formats and structures without unified criteria alignment, making objective cross-bid comparison cumbersome.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5431536"/>
            <a:ext cx="6400800" cy="58521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C2626"/>
                </a:solidFill>
                <a:latin typeface="Segoe UI"/>
              </a:rPr>
              <a:t>⚠ Vulnerable to Missed Evidence: </a:t>
            </a:r>
            <a:r>
              <a:rPr sz="950">
                <a:solidFill>
                  <a:srgbClr val="0F172A"/>
                </a:solidFill>
                <a:latin typeface="Segoe UI"/>
              </a:rPr>
              <a:t>Critical compliance clauses, financial thresholds, and non-compliance risks easily slip through manual human inspection under heavy workloads.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OUR SOLUTION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End-to-End Automated Compliance Pipeline: Extraction, Verification, Grounded Evidence &amp; Decision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36192"/>
            <a:ext cx="1353312" cy="384048"/>
          </a:xfrm>
          <a:prstGeom prst="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Tender / Bid</a:t>
            </a:r>
            <a:br/>
            <a: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RFP, BOQ, Technical proposals, financials, and vendor certificates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38528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57984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57984" y="1536192"/>
            <a:ext cx="1353312" cy="384048"/>
          </a:xfrm>
          <a:prstGeom prst="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AI Document</a:t>
            </a:r>
            <a:br/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OCR parsing, table extraction, metadata structuring &amp; clause separation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547872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67328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7328" y="1536192"/>
            <a:ext cx="1353312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Requirement &amp;</a:t>
            </a:r>
            <a:br/>
            <a:r>
              <a:t>Evidence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Semantic vector retrieval linking tender criteria to exact bidder document pages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157216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76672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6672" y="1536192"/>
            <a:ext cx="1353312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Rule / AI</a:t>
            </a:r>
            <a:br/>
            <a:r>
              <a:t>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Two-stage checks: deterministic threshold checks + deep LLM verification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766560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86016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86016" y="1536192"/>
            <a:ext cx="135331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Compliance +</a:t>
            </a:r>
            <a:br/>
            <a:r>
              <a:t>Risk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Actionable PASS / REVIEW / FAIL flags, risk matrix &amp; discrepancy alerts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75904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95360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1536192"/>
            <a:ext cx="1353312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Officer</a:t>
            </a:r>
            <a:br/>
            <a: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0224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Side-by-side multi-bid comparison with interactive evidence inspector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985248" y="3182112"/>
            <a:ext cx="182880" cy="292608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04704" y="1536192"/>
            <a:ext cx="1353312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04704" y="1536192"/>
            <a:ext cx="1353312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STEP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8" y="1993392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Final</a:t>
            </a:r>
            <a:br/>
            <a:r>
              <a:t>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9568" y="3044952"/>
            <a:ext cx="1243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Human officer records reasoned decision backed by immutable audit trail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440680"/>
            <a:ext cx="11094415" cy="84124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2960" y="5559552"/>
            <a:ext cx="3291840" cy="603504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AI Verifies
</a:t>
            </a:r>
            <a:r>
              <a:rPr sz="850">
                <a:solidFill>
                  <a:srgbClr val="FFFFFF"/>
                </a:solidFill>
                <a:latin typeface="Segoe UI"/>
              </a:rPr>
              <a:t>Automatically extracts tender requirements &amp; bidder facts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279392" y="5705856"/>
            <a:ext cx="256032" cy="320040"/>
          </a:xfrm>
          <a:prstGeom prst="rightArrow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09160" y="5559552"/>
            <a:ext cx="3291840" cy="60350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Evidence Explains
</a:t>
            </a:r>
            <a:r>
              <a:rPr sz="850">
                <a:solidFill>
                  <a:srgbClr val="FFFFFF"/>
                </a:solidFill>
                <a:latin typeface="Segoe UI"/>
              </a:rPr>
              <a:t>Every finding tied to exact document &amp; page citations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165592" y="5705856"/>
            <a:ext cx="256032" cy="320040"/>
          </a:xfrm>
          <a:prstGeom prst="rightArrow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95360" y="5559552"/>
            <a:ext cx="3291840" cy="60350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Officer Decides
</a:t>
            </a:r>
            <a:r>
              <a:rPr sz="850">
                <a:solidFill>
                  <a:srgbClr val="FFFFFF"/>
                </a:solidFill>
                <a:latin typeface="Segoe UI"/>
              </a:rPr>
              <a:t>AI never picks winner; human retains final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SYSTEM ARCHITECTURE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Complete Multi-Tier Technical Architecture with Unified Officer, Admin, and Bidder Operational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62179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6217920" cy="384048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TECHNICAL ARCHITECTURE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920240"/>
            <a:ext cx="57607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B3D"/>
                </a:solidFill>
                <a:latin typeface="Segoe UI"/>
              </a:rPr>
              <a:t>USERS LAYER
</a:t>
            </a:r>
          </a:p>
          <a:p>
            <a:pPr algn="ctr"/>
            <a:r>
              <a:rPr sz="950">
                <a:solidFill>
                  <a:srgbClr val="1D4ED8"/>
                </a:solidFill>
                <a:latin typeface="Segoe UI"/>
              </a:rPr>
              <a:t>👤 Procurement Officer  •  🏢 Bidder Applicant  •  🛡 System Administrator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520440" y="2615184"/>
            <a:ext cx="274320" cy="164592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816352"/>
            <a:ext cx="57607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REACT + VITE FRONTEND (TypeScript &amp; Tailwind CSS)
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Segoe UI"/>
              </a:rPr>
              <a:t>Responsive UI  •  Evidence Inspector  •  Multi-Bid Comparison Matrix  •  JWT Auth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520440" y="3474720"/>
            <a:ext cx="274320" cy="164592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75887"/>
            <a:ext cx="57607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SPRING BOOT BACKEND + JAVA 21 (REST API Engine)
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Segoe UI"/>
              </a:rPr>
              <a:t>Spring Security + RBAC  •  Deterministic Verification Rules  •  Audit Trail Logger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2697480" cy="15544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0B1B3D"/>
                </a:solidFill>
                <a:latin typeface="Segoe UI"/>
              </a:rPr>
              <a:t>POSTGRESQL
Database Layer
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• Tender &amp; Bid Metadata</a:t>
            </a:r>
            <a:br/>
            <a:r>
              <a:t>• Verification Records</a:t>
            </a:r>
            <a:br/>
            <a:r>
              <a:t>• User Accounts &amp; Roles</a:t>
            </a:r>
            <a:br/>
            <a:r>
              <a:t>• Immutable Audit Logs</a:t>
            </a:r>
            <a:br/>
            <a:r>
              <a:t>• JPA / HikariCP 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572000"/>
            <a:ext cx="2697480" cy="15544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7C3AED"/>
                </a:solidFill>
                <a:latin typeface="Segoe UI"/>
              </a:rPr>
              <a:t>FASTAPI AI SERVICE
Ollama + Qwen 2.5 3B
</a:t>
            </a:r>
          </a:p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• Python FastAPI Service</a:t>
            </a:r>
            <a:br/>
            <a:r>
              <a:t>• Document Parsing &amp; OCR</a:t>
            </a:r>
            <a:br/>
            <a:r>
              <a:t>• Ollama Runtime Engine</a:t>
            </a:r>
            <a:br/>
            <a:r>
              <a:t>• Qwen 2.5 3B Local LLM</a:t>
            </a:r>
            <a:br/>
            <a:r>
              <a:t>• 100% Private / No Data Leak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057400" y="4334256"/>
            <a:ext cx="228600" cy="201168"/>
          </a:xfrm>
          <a:prstGeom prst="downArrow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074920" y="4334256"/>
            <a:ext cx="228600" cy="201168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0" y="1417320"/>
            <a:ext cx="4693615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1417320"/>
            <a:ext cx="4693615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UNIFIED USER &amp; ADMIN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920240"/>
            <a:ext cx="4327855" cy="1600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👤 PROCUREMENT OFFICER FLOW:
</a:t>
            </a:r>
          </a:p>
          <a:p>
            <a:pPr>
              <a:defRPr sz="1000" b="1">
                <a:solidFill>
                  <a:srgbClr val="0B1B3D"/>
                </a:solidFill>
                <a:latin typeface="Segoe UI"/>
              </a:defRPr>
            </a:pPr>
            <a:r>
              <a:t>Login  →  Tender/Bid Management  →  Upload Documents  →  AI Verification  →  Evidence &amp; Findings  →  Review  →  Final Decision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• Defines tender qualification criteria &amp; publishes RFP</a:t>
            </a:r>
            <a:br/>
            <a:r>
              <a:t>• Ingests bidder dossiers into AI parsing pipeline</a:t>
            </a:r>
            <a:br/>
            <a:r>
              <a:t>• Inspects evidence citations &amp; records reasoned procurement award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11880"/>
            <a:ext cx="4327855" cy="13716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7C3AED"/>
                </a:solidFill>
                <a:latin typeface="Segoe UI"/>
              </a:rPr>
              <a:t>🛡 SYSTEM ADMINISTRATOR FLOW:
</a:t>
            </a:r>
          </a:p>
          <a:p>
            <a:pPr>
              <a:defRPr sz="1000" b="1">
                <a:solidFill>
                  <a:srgbClr val="0B1B3D"/>
                </a:solidFill>
                <a:latin typeface="Segoe UI"/>
              </a:defRPr>
            </a:pPr>
            <a:r>
              <a:t>Login  →  User Management  →  Tender/System Monitoring  →  Verification Monitoring  →  Audit / Traceability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Segoe UI"/>
              </a:defRPr>
            </a:pPr>
            <a:r>
              <a:t>• Role-Based Access Control (RBAC) &amp; user lifecycle management</a:t>
            </a:r>
            <a:br/>
            <a:r>
              <a:t>• Health monitoring of Spring Boot backend &amp; FastAPI AI service</a:t>
            </a:r>
            <a:br/>
            <a:r>
              <a:t>• Immutable audit logging for CAG &amp; CVC 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5074920"/>
            <a:ext cx="4327855" cy="1051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100" b="1">
                <a:solidFill>
                  <a:srgbClr val="059669"/>
                </a:solidFill>
                <a:latin typeface="Segoe UI"/>
              </a:rPr>
              <a:t>🏢 BIDDER INTERACTION LAYER:
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• Submit Bids &amp; Certificates  •  View Real-Time Verification Status  •  Query Grounded AI Assistant for Tender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LIVE WORKING APPLICATION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4 of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051560"/>
            <a:ext cx="11094415" cy="384048"/>
          </a:xfrm>
          <a:prstGeom prst="round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MAIN APPLICATION WORKFLOW:   LOGIN  →  TENDER MANAGEMENT  →  BID SUBMISSION  →  AI COMPLIANCE VERIFICATION  →  OFFICER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36192"/>
            <a:ext cx="34930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72768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284E"/>
                </a:solidFill>
                <a:latin typeface="Segoe UI"/>
              </a:defRPr>
            </a:pPr>
            <a:r>
              <a:t>• LOGIN •</a:t>
            </a:r>
          </a:p>
        </p:txBody>
      </p:sp>
      <p:pic>
        <p:nvPicPr>
          <p:cNvPr id="13" name="Picture 12" descr="app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56232"/>
            <a:ext cx="3273552" cy="16642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547872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Secure Multi-Persona Access (Officer, Bidder, Admin)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96512" y="2542032"/>
            <a:ext cx="192024" cy="3200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536192"/>
            <a:ext cx="34930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572768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284E"/>
                </a:solidFill>
                <a:latin typeface="Segoe UI"/>
              </a:defRPr>
            </a:pPr>
            <a:r>
              <a:t>• TENDER MANAGEMENT •</a:t>
            </a:r>
          </a:p>
        </p:txBody>
      </p:sp>
      <p:pic>
        <p:nvPicPr>
          <p:cNvPr id="18" name="Picture 17" descr="sih26100_s5_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856232"/>
            <a:ext cx="3273552" cy="16642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43400" y="3547872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Publish Tenders, Upload RFPs &amp; Set Criteria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1272" y="2542032"/>
            <a:ext cx="192024" cy="32004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536192"/>
            <a:ext cx="34930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572768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284E"/>
                </a:solidFill>
                <a:latin typeface="Segoe UI"/>
              </a:defRPr>
            </a:pPr>
            <a:r>
              <a:t>• BID SUBMISSION •</a:t>
            </a:r>
          </a:p>
        </p:txBody>
      </p:sp>
      <p:pic>
        <p:nvPicPr>
          <p:cNvPr id="23" name="Picture 22" descr="sih26100_s5_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856232"/>
            <a:ext cx="3273552" cy="16642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38160" y="3547872"/>
            <a:ext cx="34930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Bidder Document Matrix &amp; Vault Submission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537667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14215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• AI COMPLIANCE VERIFICATION •</a:t>
            </a:r>
          </a:p>
        </p:txBody>
      </p:sp>
      <p:pic>
        <p:nvPicPr>
          <p:cNvPr id="27" name="Picture 26" descr="sih26100_s5_img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97679"/>
            <a:ext cx="5102352" cy="17556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6099047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Multi-Format Verification Pipeline with Grounded Document Citations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80176" y="5074919"/>
            <a:ext cx="228600" cy="36576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3977639"/>
            <a:ext cx="537667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14215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• OFFICER REVIEW •</a:t>
            </a:r>
          </a:p>
        </p:txBody>
      </p:sp>
      <p:pic>
        <p:nvPicPr>
          <p:cNvPr id="32" name="Picture 31" descr="sih26100_s5_img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297679"/>
            <a:ext cx="5102352" cy="17556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63640" y="6099047"/>
            <a:ext cx="5376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Command Center: Multi-Bid Comparison Matrix &amp; Reasoned Award 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PROJECT LINKS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Interactive Live Application, Full Open-Source Repository, Complete Video Demonstration, and Pre-Configured Test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52044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63040"/>
            <a:ext cx="35204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LIVE APPLICATION</a:t>
            </a:r>
          </a:p>
        </p:txBody>
      </p:sp>
      <p:pic>
        <p:nvPicPr>
          <p:cNvPr id="13" name="Picture 12" descr="qr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65960"/>
            <a:ext cx="1417320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3456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u="sng">
                <a:solidFill>
                  <a:srgbClr val="1D4ED8"/>
                </a:solidFill>
                <a:latin typeface="Segoe UI"/>
                <a:hlinkClick r:id="rId4"/>
              </a:rPr>
              <a:t>ai-bid-compliance-frontend.onrender.com</a:t>
            </a:r>
          </a:p>
        </p:txBody>
      </p:sp>
      <p:sp>
        <p:nvSpPr>
          <p:cNvPr id="15" name="Rounded Rectangle 14">
            <a:hlinkClick r:id="rId4"/>
          </p:cNvPr>
          <p:cNvSpPr/>
          <p:nvPr/>
        </p:nvSpPr>
        <p:spPr>
          <a:xfrm>
            <a:off x="914400" y="3950208"/>
            <a:ext cx="278892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OPEN LIVE PLATFORM 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463040"/>
            <a:ext cx="352044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463040"/>
            <a:ext cx="3520440" cy="384048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GITHUB REPOSITORY</a:t>
            </a:r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965960"/>
            <a:ext cx="141732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25696" y="3456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u="sng">
                <a:solidFill>
                  <a:srgbClr val="0F284E"/>
                </a:solidFill>
                <a:latin typeface="Segoe UI"/>
                <a:hlinkClick r:id="rId6"/>
              </a:rPr>
              <a:t>github.com/tiruvinayak/ai-bid-compliance-platform.git</a:t>
            </a:r>
          </a:p>
        </p:txBody>
      </p:sp>
      <p:sp>
        <p:nvSpPr>
          <p:cNvPr id="20" name="Rounded Rectangle 19">
            <a:hlinkClick r:id="rId6"/>
          </p:cNvPr>
          <p:cNvSpPr/>
          <p:nvPr/>
        </p:nvSpPr>
        <p:spPr>
          <a:xfrm>
            <a:off x="4700016" y="3950208"/>
            <a:ext cx="2788920" cy="411480"/>
          </a:xfrm>
          <a:prstGeom prst="round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VIEW SOURCE CODE 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463040"/>
            <a:ext cx="352044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463040"/>
            <a:ext cx="35204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YOUTUBE DEMO</a:t>
            </a:r>
          </a:p>
        </p:txBody>
      </p:sp>
      <p:pic>
        <p:nvPicPr>
          <p:cNvPr id="23" name="Picture 22" descr="qr_yout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1965960"/>
            <a:ext cx="1417320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11312" y="34564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u="sng">
                <a:solidFill>
                  <a:srgbClr val="DC2626"/>
                </a:solidFill>
                <a:latin typeface="Segoe UI"/>
                <a:hlinkClick r:id="rId8"/>
              </a:rPr>
              <a:t>youtu.be/TsULeHhOB50</a:t>
            </a:r>
          </a:p>
        </p:txBody>
      </p:sp>
      <p:sp>
        <p:nvSpPr>
          <p:cNvPr id="25" name="Rounded Rectangle 24">
            <a:hlinkClick r:id="rId8"/>
          </p:cNvPr>
          <p:cNvSpPr/>
          <p:nvPr/>
        </p:nvSpPr>
        <p:spPr>
          <a:xfrm>
            <a:off x="8485632" y="3950208"/>
            <a:ext cx="278892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WATCH VIDEO DEMO 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11094415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11094415" cy="347472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PRE-CONFIGURED EVALUATION CREDENTIALS (ROLE-BASED DEMO ACCOUNTS)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38928"/>
            <a:ext cx="2633472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5193792"/>
            <a:ext cx="24871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Segoe UI"/>
              </a:defRPr>
            </a:pPr>
            <a:r>
              <a:t>Procurement Officer</a:t>
            </a:r>
          </a:p>
          <a:p>
            <a:r>
              <a:rPr sz="900" b="1">
                <a:solidFill>
                  <a:srgbClr val="0B1B3D"/>
                </a:solidFill>
                <a:latin typeface="Segoe UI"/>
              </a:rPr>
              <a:t>Email: officer@demo.gov.in
</a:t>
            </a:r>
            <a:r>
              <a:rPr sz="900" b="1">
                <a:solidFill>
                  <a:srgbClr val="DC2626"/>
                </a:solidFill>
                <a:latin typeface="Segoe UI"/>
              </a:rPr>
              <a:t>Pass: Officer@123
</a:t>
            </a:r>
            <a:r>
              <a:rPr sz="850">
                <a:solidFill>
                  <a:srgbClr val="64748B"/>
                </a:solidFill>
                <a:latin typeface="Segoe UI"/>
              </a:rPr>
              <a:t>Tender setup, AI evaluation &amp;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5138928"/>
            <a:ext cx="2633472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5193792"/>
            <a:ext cx="24871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Bidder / Vendor</a:t>
            </a:r>
          </a:p>
          <a:p>
            <a:r>
              <a:rPr sz="900" b="1">
                <a:solidFill>
                  <a:srgbClr val="0B1B3D"/>
                </a:solidFill>
                <a:latin typeface="Segoe UI"/>
              </a:rPr>
              <a:t>Email: user@demo.gov.in
</a:t>
            </a:r>
            <a:r>
              <a:rPr sz="900" b="1">
                <a:solidFill>
                  <a:srgbClr val="DC2626"/>
                </a:solidFill>
                <a:latin typeface="Segoe UI"/>
              </a:rPr>
              <a:t>Pass: User@123
</a:t>
            </a:r>
            <a:r>
              <a:rPr sz="850">
                <a:solidFill>
                  <a:srgbClr val="64748B"/>
                </a:solidFill>
                <a:latin typeface="Segoe UI"/>
              </a:rPr>
              <a:t>Document upload &amp; status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138928"/>
            <a:ext cx="2633472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5193792"/>
            <a:ext cx="24871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C3AED"/>
                </a:solidFill>
                <a:latin typeface="Segoe UI"/>
              </a:defRPr>
            </a:pPr>
            <a:r>
              <a:t>Central Admin</a:t>
            </a:r>
          </a:p>
          <a:p>
            <a:r>
              <a:rPr sz="900" b="1">
                <a:solidFill>
                  <a:srgbClr val="0B1B3D"/>
                </a:solidFill>
                <a:latin typeface="Segoe UI"/>
              </a:rPr>
              <a:t>Email: admin@demo.gov.in
</a:t>
            </a:r>
            <a:r>
              <a:rPr sz="900" b="1">
                <a:solidFill>
                  <a:srgbClr val="DC2626"/>
                </a:solidFill>
                <a:latin typeface="Segoe UI"/>
              </a:rPr>
              <a:t>Pass: Admin@123
</a:t>
            </a:r>
            <a:r>
              <a:rPr sz="850">
                <a:solidFill>
                  <a:srgbClr val="64748B"/>
                </a:solidFill>
                <a:latin typeface="Segoe UI"/>
              </a:rPr>
              <a:t>System monitoring &amp; user governance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5138928"/>
            <a:ext cx="2633472" cy="114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5193792"/>
            <a:ext cx="24871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Segoe UI"/>
              </a:defRPr>
            </a:pPr>
            <a:r>
              <a:t>Sector Admin (Railways)</a:t>
            </a:r>
          </a:p>
          <a:p>
            <a:r>
              <a:rPr sz="900" b="1">
                <a:solidFill>
                  <a:srgbClr val="0B1B3D"/>
                </a:solidFill>
                <a:latin typeface="Segoe UI"/>
              </a:rPr>
              <a:t>Email: railways@demo.gov.in
</a:t>
            </a:r>
            <a:r>
              <a:rPr sz="900" b="1">
                <a:solidFill>
                  <a:srgbClr val="DC2626"/>
                </a:solidFill>
                <a:latin typeface="Segoe UI"/>
              </a:rPr>
              <a:t>Pass: Sector@123
</a:t>
            </a:r>
            <a:r>
              <a:rPr sz="850">
                <a:solidFill>
                  <a:srgbClr val="64748B"/>
                </a:solidFill>
                <a:latin typeface="Segoe UI"/>
              </a:rPr>
              <a:t>Sector oversight &amp; compliance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IMPACT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Measurable Institutional Value Across Procurement Speed, Audit Readiness, and Transparent Competition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53035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5303520" cy="384048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IMPACT PROGRESSION FLOWCHART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874519"/>
            <a:ext cx="4846320" cy="502920"/>
          </a:xfrm>
          <a:prstGeom prst="roundRect">
            <a:avLst/>
          </a:prstGeom>
          <a:solidFill>
            <a:srgbClr val="0F284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OUR PLATFORM: </a:t>
            </a:r>
            <a:r>
              <a:rPr sz="850">
                <a:solidFill>
                  <a:srgbClr val="FFFFFF"/>
                </a:solidFill>
                <a:latin typeface="Segoe UI"/>
              </a:rPr>
              <a:t>AI-Powered Procurement Bid Compliance Verification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8960" y="2386583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505455"/>
            <a:ext cx="4846320" cy="5029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Faster Structured Review: </a:t>
            </a:r>
            <a:r>
              <a:rPr sz="850">
                <a:solidFill>
                  <a:srgbClr val="FFFFFF"/>
                </a:solidFill>
                <a:latin typeface="Segoe UI"/>
              </a:rPr>
              <a:t>Replaces days of manual reading with instant OCR &amp; clause extraction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108960" y="3017519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136391"/>
            <a:ext cx="48463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B3D"/>
                </a:solidFill>
                <a:latin typeface="Segoe UI"/>
              </a:rPr>
              <a:t>Evidence-Backed Decisions: </a:t>
            </a:r>
            <a:r>
              <a:rPr sz="850">
                <a:solidFill>
                  <a:srgbClr val="0B1B3D"/>
                </a:solidFill>
                <a:latin typeface="Segoe UI"/>
              </a:rPr>
              <a:t>Direct page-level citations eliminate guesswork &amp; subjective disputes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3648455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767327"/>
            <a:ext cx="48463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B3D"/>
                </a:solidFill>
                <a:latin typeface="Segoe UI"/>
              </a:rPr>
              <a:t>Consistent Evaluation: </a:t>
            </a:r>
            <a:r>
              <a:rPr sz="850">
                <a:solidFill>
                  <a:srgbClr val="0B1B3D"/>
                </a:solidFill>
                <a:latin typeface="Segoe UI"/>
              </a:rPr>
              <a:t>Standardized rules prevent disparate decisions across officers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08960" y="4279391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398263"/>
            <a:ext cx="484632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Segoe UI"/>
              </a:rPr>
              <a:t>Multi-Bid Comparison: </a:t>
            </a:r>
            <a:r>
              <a:rPr sz="850">
                <a:solidFill>
                  <a:srgbClr val="7C3AED"/>
                </a:solidFill>
                <a:latin typeface="Segoe UI"/>
              </a:rPr>
              <a:t>Unified criteria matrix enables objective side-by-side assessment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108960" y="4910327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029199"/>
            <a:ext cx="484632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Segoe UI"/>
              </a:rPr>
              <a:t>End-to-End Traceability: </a:t>
            </a:r>
            <a:r>
              <a:rPr sz="850">
                <a:solidFill>
                  <a:srgbClr val="7C3AED"/>
                </a:solidFill>
                <a:latin typeface="Segoe UI"/>
              </a:rPr>
              <a:t>Complete provenance tracking from RFP clause to vendor document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108960" y="5541263"/>
            <a:ext cx="182880" cy="109728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660135"/>
            <a:ext cx="4846320" cy="50292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Audit-Ready Procurement: </a:t>
            </a:r>
            <a:r>
              <a:rPr sz="850">
                <a:solidFill>
                  <a:srgbClr val="FFFFFF"/>
                </a:solidFill>
                <a:latin typeface="Segoe UI"/>
              </a:rPr>
              <a:t>Tamper-evident records ready for official oversight (CAG / CVC)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417320"/>
            <a:ext cx="5608015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417320"/>
            <a:ext cx="5608015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  BENEFICIARY IMPACT BREAKDOWN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874519"/>
            <a:ext cx="5242255" cy="1417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929383"/>
            <a:ext cx="50292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D4ED8"/>
                </a:solidFill>
                <a:latin typeface="Segoe UI"/>
              </a:defRPr>
            </a:pPr>
            <a:r>
              <a:t>• PROCUREMENT OFFICER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Faster review: </a:t>
            </a:r>
            <a:r>
              <a:rPr sz="900">
                <a:solidFill>
                  <a:srgbClr val="475569"/>
                </a:solidFill>
                <a:latin typeface="Segoe UI"/>
              </a:rPr>
              <a:t>Drastically reduces hours spent cross-checking multi-page tender criteria against bidder files.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Structured evidence: </a:t>
            </a:r>
            <a:r>
              <a:rPr sz="900">
                <a:solidFill>
                  <a:srgbClr val="475569"/>
                </a:solidFill>
                <a:latin typeface="Segoe UI"/>
              </a:rPr>
              <a:t>Direct clickable document citations and page excerpts validate every extracted claim.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Easier comparison: </a:t>
            </a:r>
            <a:r>
              <a:rPr sz="900">
                <a:solidFill>
                  <a:srgbClr val="475569"/>
                </a:solidFill>
                <a:latin typeface="Segoe UI"/>
              </a:rPr>
              <a:t>Side-by-side comparative matrices highlight discrepancies between competing bidders.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428999"/>
            <a:ext cx="5242255" cy="14173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483863"/>
            <a:ext cx="50292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84E"/>
                </a:solidFill>
                <a:latin typeface="Segoe UI"/>
              </a:defRPr>
            </a:pPr>
            <a:r>
              <a:t>• GOVERNMENT &amp; PUBLIC SECTOR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End-to-end traceability: </a:t>
            </a:r>
            <a:r>
              <a:rPr sz="900">
                <a:solidFill>
                  <a:srgbClr val="475569"/>
                </a:solidFill>
                <a:latin typeface="Segoe UI"/>
              </a:rPr>
              <a:t>Full provenance linking tender rules to bidder evidence and officer decisions.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Consistent evaluation: </a:t>
            </a:r>
            <a:r>
              <a:rPr sz="900">
                <a:solidFill>
                  <a:srgbClr val="475569"/>
                </a:solidFill>
                <a:latin typeface="Segoe UI"/>
              </a:rPr>
              <a:t>Standardized deterministic rule enforcement eliminates human evaluator variance.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Audit readiness: </a:t>
            </a:r>
            <a:r>
              <a:rPr sz="900">
                <a:solidFill>
                  <a:srgbClr val="475569"/>
                </a:solidFill>
                <a:latin typeface="Segoe UI"/>
              </a:rPr>
              <a:t>Tamper-evident logs align seamlessly with GFR 2017, GeM policies, and CVC guidelines.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83479"/>
            <a:ext cx="5242255" cy="1417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038343"/>
            <a:ext cx="50292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• BIDDER / VENDOR ECOSYSTEM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Clear requirements: </a:t>
            </a:r>
            <a:r>
              <a:rPr sz="900">
                <a:solidFill>
                  <a:srgbClr val="475569"/>
                </a:solidFill>
                <a:latin typeface="Segoe UI"/>
              </a:rPr>
              <a:t>Structured checklists give vendors clear visibility into qualification criteria.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Verification status: </a:t>
            </a:r>
            <a:r>
              <a:rPr sz="900">
                <a:solidFill>
                  <a:srgbClr val="475569"/>
                </a:solidFill>
                <a:latin typeface="Segoe UI"/>
              </a:rPr>
              <a:t>Real-time visibility into document parsing status and verification completeness.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B1B3D"/>
                </a:solidFill>
                <a:latin typeface="Segoe UI"/>
              </a:rPr>
              <a:t>  → AI assistant for queries: </a:t>
            </a:r>
            <a:r>
              <a:rPr sz="900">
                <a:solidFill>
                  <a:srgbClr val="475569"/>
                </a:solidFill>
                <a:latin typeface="Segoe UI"/>
              </a:rPr>
              <a:t>Interactive RAG assistant answers bidder questions on tender rules without delays.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Team: Tech_nova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"/>
            <a:ext cx="146304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1B3D"/>
                </a:solidFill>
                <a:latin typeface="Segoe UI"/>
              </a:defRPr>
            </a:pPr>
            <a:r>
              <a:t>PS: SIH26100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82880"/>
            <a:ext cx="2377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8961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0B1B3D"/>
                </a:solidFill>
                <a:latin typeface="Segoe UI"/>
              </a:defRPr>
            </a:pPr>
            <a:r>
              <a:t>KEY BENEFITS &amp; DIFFERENTIATORS</a:t>
            </a:r>
          </a:p>
        </p:txBody>
      </p:sp>
      <p:pic>
        <p:nvPicPr>
          <p:cNvPr id="7" name="Picture 6" descr="v7_s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@SIH Idea submission- Template  •  Smart India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Segoe UI"/>
              </a:defRPr>
            </a:pPr>
            <a:r>
              <a:t>Slide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How Our Evidence-First Architecture Elevates Procurement Rigor Over Traditional Manual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17320"/>
            <a:ext cx="11094415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36192"/>
            <a:ext cx="10728655" cy="6583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DC2626"/>
                </a:solidFill>
                <a:latin typeface="Segoe UI"/>
              </a:rPr>
              <a:t>TRADITIONAL WORKFLOW (Manual, Slow &amp; Vulnerable):  </a:t>
            </a:r>
            <a:r>
              <a:rPr sz="1050" b="1">
                <a:solidFill>
                  <a:srgbClr val="0B1B3D"/>
                </a:solidFill>
                <a:latin typeface="Segoe UI"/>
              </a:rPr>
              <a:t>Documents  →  Manual Checking  →  Officer Decision
</a:t>
            </a:r>
          </a:p>
          <a:p>
            <a:pPr>
              <a:defRPr sz="900">
                <a:solidFill>
                  <a:srgbClr val="DC2626"/>
                </a:solidFill>
                <a:latin typeface="Segoe UI"/>
              </a:defRPr>
            </a:pPr>
            <a:r>
              <a:t>• Manual inspection across hundreds of pages  •  High risk of missed critical clauses  •  Difficult multi-bid comparison  •  Zero verifiable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67712"/>
            <a:ext cx="10728655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59669"/>
                </a:solidFill>
                <a:latin typeface="Segoe UI"/>
              </a:rPr>
              <a:t>OUR PLATFORM WORKFLOW (Automated, Evidence-Backed &amp; Explainable):  </a:t>
            </a:r>
            <a:r>
              <a:rPr sz="1000" b="1">
                <a:solidFill>
                  <a:srgbClr val="1D4ED8"/>
                </a:solidFill>
                <a:latin typeface="Segoe UI"/>
              </a:rPr>
              <a:t>Documents  →  AI Extraction  →  Evidence Mapping  →  Two-Stage Verification  →  Risk / Conflict Findings  →  Officer Review  →  Final Decision
</a:t>
            </a:r>
          </a:p>
          <a:p>
            <a:pPr>
              <a:defRPr sz="900">
                <a:solidFill>
                  <a:srgbClr val="059669"/>
                </a:solidFill>
                <a:latin typeface="Segoe UI"/>
              </a:defRPr>
            </a:pPr>
            <a:r>
              <a:t>• Instant document parsing  •  Every fact tied to page numbers  •  Deterministic rule validation  •  Multi-bid matrix  •  Human retains 100% final decision authority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82112"/>
            <a:ext cx="11094415" cy="3154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11094415" cy="347472"/>
          </a:xfrm>
          <a:prstGeom prst="rect">
            <a:avLst/>
          </a:prstGeom>
          <a:solidFill>
            <a:srgbClr val="0F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OUR PLATFORM ADDS — 7 CORE DIFFERENTIATORS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21024"/>
            <a:ext cx="2587752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75888"/>
            <a:ext cx="24414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1. Evidence-Backed AI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Every finding is strictly linked to source evidence with exact page numbers &amp; clause excerpts.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83864" y="3621024"/>
            <a:ext cx="2587752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7016" y="3675888"/>
            <a:ext cx="24414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2. Two-Stage Verification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Stage 1 Integrity Check for document validity, followed by Stage 2 Deep Verification across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621024"/>
            <a:ext cx="2587752" cy="11887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75888"/>
            <a:ext cx="24414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3. Multi-Bid Comparison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Aligns all competing bidders against identical tender requirements in a unified comparison matrix.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3621024"/>
            <a:ext cx="2587752" cy="11887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3675888"/>
            <a:ext cx="24414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4. Grounded AI Assistant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Segoe UI"/>
              </a:defRPr>
            </a:pPr>
            <a:r>
              <a:t>Retrieval-Augmented Assistant strictly bounded to tender documents; zero hallucinations or made-up 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19472"/>
            <a:ext cx="3511296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974336"/>
            <a:ext cx="33649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5. Human-in-the-Loop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AI assists by verifying and explaining; the authorized procurement officer always makes the final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4919472"/>
            <a:ext cx="3511296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4974336"/>
            <a:ext cx="33649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Segoe UI"/>
              </a:defRPr>
            </a:pPr>
            <a:r>
              <a:t>6. Complete Audit Trail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Segoe UI"/>
              </a:defRPr>
            </a:pPr>
            <a:r>
              <a:t>Immutable event logging captures every document upload, rule evaluation, and user decision for CAG/CVC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4919472"/>
            <a:ext cx="3511296" cy="1234440"/>
          </a:xfrm>
          <a:prstGeom prst="roundRect">
            <a:avLst/>
          </a:prstGeom>
          <a:solidFill>
            <a:srgbClr val="0F284E"/>
          </a:solidFill>
          <a:ln w="12700">
            <a:solidFill>
              <a:srgbClr val="0B1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4974336"/>
            <a:ext cx="33649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7. Local / Private AI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Segoe UI"/>
              </a:defRPr>
            </a:pPr>
            <a:r>
              <a:t>Ollama + Qwen 2.5 3B runs on-premise, guaranteeing sensitive procurement data never leaves government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